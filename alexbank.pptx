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8"/>
  </p:notesMasterIdLst>
  <p:sldIdLst>
    <p:sldId id="256" r:id="rId2"/>
    <p:sldId id="273" r:id="rId3"/>
    <p:sldId id="274" r:id="rId4"/>
    <p:sldId id="263" r:id="rId5"/>
    <p:sldId id="258" r:id="rId6"/>
    <p:sldId id="259" r:id="rId7"/>
    <p:sldId id="261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2" r:id="rId16"/>
    <p:sldId id="270" r:id="rId17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72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464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87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2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75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523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2063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916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509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88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998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1048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663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355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1151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730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90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62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94250" y="299217"/>
            <a:ext cx="11546339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b="1" dirty="0" err="1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AlexBank</a:t>
            </a:r>
            <a:r>
              <a:rPr lang="en-US" sz="641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 Digital Transformation</a:t>
            </a:r>
            <a:endParaRPr lang="en-US" sz="6410" dirty="0"/>
          </a:p>
        </p:txBody>
      </p:sp>
      <p:sp>
        <p:nvSpPr>
          <p:cNvPr id="9" name="Rectangle 8"/>
          <p:cNvSpPr/>
          <p:nvPr/>
        </p:nvSpPr>
        <p:spPr>
          <a:xfrm>
            <a:off x="594250" y="2926022"/>
            <a:ext cx="88251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Name: Hazem Adel  ID: 13006278</a:t>
            </a:r>
          </a:p>
          <a:p>
            <a:r>
              <a:rPr lang="en-US" sz="3600" b="1" dirty="0"/>
              <a:t>Name: Omar Khaled ID: 13003972</a:t>
            </a:r>
          </a:p>
          <a:p>
            <a:r>
              <a:rPr lang="en-US" sz="3600" b="1" dirty="0"/>
              <a:t>Name: </a:t>
            </a:r>
            <a:r>
              <a:rPr lang="en-US" sz="3600" b="1" dirty="0" err="1"/>
              <a:t>Moaz</a:t>
            </a:r>
            <a:r>
              <a:rPr lang="en-US" sz="3600" b="1" dirty="0"/>
              <a:t> </a:t>
            </a:r>
            <a:r>
              <a:rPr lang="en-US" sz="3600" b="1" dirty="0" err="1"/>
              <a:t>Abdelaleem</a:t>
            </a:r>
            <a:r>
              <a:rPr lang="en-US" sz="3600" b="1" dirty="0"/>
              <a:t>  ID: 13007327</a:t>
            </a:r>
          </a:p>
          <a:p>
            <a:r>
              <a:rPr lang="en-US" sz="3600" b="1" dirty="0"/>
              <a:t>Name: Mohammed Gamal ID: 13001305 </a:t>
            </a:r>
          </a:p>
          <a:p>
            <a:r>
              <a:rPr lang="en-US" sz="3600" b="1" dirty="0"/>
              <a:t>Name: Omar </a:t>
            </a:r>
            <a:r>
              <a:rPr lang="en-US" sz="3600" b="1" dirty="0" err="1"/>
              <a:t>Ehab</a:t>
            </a:r>
            <a:r>
              <a:rPr lang="en-US" sz="3600" b="1" dirty="0"/>
              <a:t> ID: 13006897 </a:t>
            </a:r>
          </a:p>
          <a:p>
            <a:r>
              <a:rPr lang="en-US" sz="3600" b="1" dirty="0"/>
              <a:t>Name: </a:t>
            </a:r>
            <a:r>
              <a:rPr lang="en-US" sz="3600" b="1" dirty="0" err="1"/>
              <a:t>Anas</a:t>
            </a:r>
            <a:r>
              <a:rPr lang="en-US" sz="3600" b="1" dirty="0"/>
              <a:t> Ahmed ID: 13008336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118" y="2692575"/>
            <a:ext cx="4701735" cy="388321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1435608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Company Overview</a:t>
            </a:r>
            <a:endParaRPr lang="en-US" sz="4640" b="1" dirty="0">
              <a:latin typeface="+mj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78992" y="3941064"/>
            <a:ext cx="750722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Privatized in 2006</a:t>
            </a:r>
            <a:endParaRPr lang="en-US" sz="2320" b="1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78992" y="4453128"/>
            <a:ext cx="7507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Acquired by Intesa Sanpaolo, it became a private entity to enhance growth and adaptability.</a:t>
            </a:r>
            <a:endParaRPr lang="en-US" sz="1850" dirty="0"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78992" y="3081528"/>
            <a:ext cx="7507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Established over six decades ago, the company has a long history in providing banking services.</a:t>
            </a:r>
            <a:endParaRPr lang="en-US" sz="185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78992" y="2569464"/>
            <a:ext cx="750722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Founded in 1957</a:t>
            </a:r>
            <a:endParaRPr lang="en-US" sz="2320" b="1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78992" y="5815584"/>
            <a:ext cx="7507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The core operations revolve around banking and financial services, navigating both traditional and modern challenges.</a:t>
            </a:r>
            <a:endParaRPr lang="en-US" sz="185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78992" y="5303520"/>
            <a:ext cx="750722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Banking Sector Focus</a:t>
            </a:r>
            <a:endParaRPr lang="en-US" sz="232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754697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48135"/>
            <a:ext cx="14630400" cy="101498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952962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5" y="6594917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6613205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25796"/>
            <a:ext cx="475488" cy="4754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3838496"/>
            <a:ext cx="475488" cy="4754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248656"/>
            <a:ext cx="475488" cy="47548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220456" y="5258984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Declining Branch Visits</a:t>
            </a:r>
            <a:endParaRPr lang="en-US" sz="2320" b="1" dirty="0">
              <a:latin typeface="+mj-lt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609344" y="4013720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Legacy Systems</a:t>
            </a:r>
            <a:endParaRPr lang="en-US" sz="2320" b="1" dirty="0">
              <a:latin typeface="+mj-lt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96696" y="398953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3" name="Text 3"/>
          <p:cNvSpPr/>
          <p:nvPr/>
        </p:nvSpPr>
        <p:spPr>
          <a:xfrm>
            <a:off x="8220456" y="5825252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Customers preferred online channels over in-person banking.</a:t>
            </a:r>
            <a:endParaRPr lang="en-US" sz="1850" dirty="0">
              <a:latin typeface="+mj-lt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96696" y="6631493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15" name="Text 5"/>
          <p:cNvSpPr/>
          <p:nvPr/>
        </p:nvSpPr>
        <p:spPr>
          <a:xfrm>
            <a:off x="1609344" y="438862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Manual processes caused delays and </a:t>
            </a:r>
            <a:r>
              <a:rPr lang="en-US" sz="1850" dirty="0" err="1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ineffciencies</a:t>
            </a: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.</a:t>
            </a:r>
            <a:endParaRPr lang="en-US" sz="1850" dirty="0">
              <a:latin typeface="+mj-lt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635240" y="6634605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2320" dirty="0"/>
          </a:p>
        </p:txBody>
      </p:sp>
      <p:sp>
        <p:nvSpPr>
          <p:cNvPr id="17" name="Text 7"/>
          <p:cNvSpPr/>
          <p:nvPr/>
        </p:nvSpPr>
        <p:spPr>
          <a:xfrm>
            <a:off x="7602300" y="522698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8" name="Text 8"/>
          <p:cNvSpPr/>
          <p:nvPr/>
        </p:nvSpPr>
        <p:spPr>
          <a:xfrm>
            <a:off x="7603236" y="387507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9" name="Text 9"/>
          <p:cNvSpPr/>
          <p:nvPr/>
        </p:nvSpPr>
        <p:spPr>
          <a:xfrm>
            <a:off x="8220456" y="7088693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Need to reduce costs and automate routine tasks</a:t>
            </a:r>
            <a:r>
              <a:rPr lang="en-US" sz="185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813816" y="2952520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Reasons for Digital Transformation</a:t>
            </a:r>
            <a:endParaRPr lang="en-US" sz="4640" b="1" dirty="0">
              <a:latin typeface="+mj-lt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220456" y="6657713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Operational </a:t>
            </a:r>
            <a:r>
              <a:rPr lang="en-US" sz="2320" b="1" dirty="0" err="1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Effciency</a:t>
            </a:r>
            <a:endParaRPr lang="en-US" sz="2320" b="1" dirty="0">
              <a:latin typeface="+mj-lt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220456" y="4478633"/>
            <a:ext cx="55504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Growing demand for mobile and digital banking services.</a:t>
            </a:r>
            <a:endParaRPr lang="en-US" sz="1850" dirty="0">
              <a:latin typeface="+mj-lt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609344" y="7217425"/>
            <a:ext cx="55504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AI, cloud, and analytics became industry standards.</a:t>
            </a:r>
            <a:endParaRPr lang="en-US" sz="1850" dirty="0">
              <a:latin typeface="+mj-lt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609344" y="5802529"/>
            <a:ext cx="55504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New digital banks pushed </a:t>
            </a:r>
            <a:r>
              <a:rPr lang="en-US" sz="1850" dirty="0" err="1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AlexBank</a:t>
            </a: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 to Modernize.</a:t>
            </a:r>
            <a:endParaRPr lang="en-US" sz="1850" dirty="0">
              <a:latin typeface="+mj-lt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1609344" y="5276088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Fintech competition</a:t>
            </a:r>
            <a:endParaRPr lang="en-US" sz="2320" b="1" dirty="0">
              <a:latin typeface="+mj-lt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220456" y="3897134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Customer Expectation</a:t>
            </a:r>
            <a:endParaRPr lang="en-US" sz="2320" b="1" dirty="0">
              <a:latin typeface="+mj-lt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1012891" y="52943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28" name="Text 18"/>
          <p:cNvSpPr/>
          <p:nvPr/>
        </p:nvSpPr>
        <p:spPr>
          <a:xfrm>
            <a:off x="1609344" y="6663497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New Technologies</a:t>
            </a:r>
            <a:endParaRPr lang="en-US" sz="232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645721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7118"/>
            <a:ext cx="14630400" cy="33963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97108"/>
            <a:ext cx="392641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918" y="4957590"/>
            <a:ext cx="475488" cy="3980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149" y="4918866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09344" y="4937154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Boosting Customer Digital </a:t>
            </a:r>
            <a:r>
              <a:rPr lang="en-US" sz="2320" b="1" dirty="0" err="1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Engagment</a:t>
            </a:r>
            <a:endParaRPr lang="en-US" sz="2320" b="1" dirty="0">
              <a:latin typeface="+mj-lt"/>
            </a:endParaRPr>
          </a:p>
        </p:txBody>
      </p:sp>
      <p:sp>
        <p:nvSpPr>
          <p:cNvPr id="8" name="Text 1"/>
          <p:cNvSpPr/>
          <p:nvPr/>
        </p:nvSpPr>
        <p:spPr>
          <a:xfrm>
            <a:off x="6121247" y="5925312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/>
              <a:t>Such as loans approvals and document handing, to reduce delays and operating costs</a:t>
            </a:r>
          </a:p>
        </p:txBody>
      </p:sp>
      <p:sp>
        <p:nvSpPr>
          <p:cNvPr id="9" name="Text 2"/>
          <p:cNvSpPr/>
          <p:nvPr/>
        </p:nvSpPr>
        <p:spPr>
          <a:xfrm>
            <a:off x="822960" y="3677017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Transformation Goals</a:t>
            </a:r>
            <a:endParaRPr lang="en-US" sz="4640" b="1" dirty="0">
              <a:latin typeface="+mj-lt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0549918" y="4969158"/>
            <a:ext cx="3337560" cy="688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Improving Visibility Into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Risk- Prone Customers</a:t>
            </a:r>
            <a:endParaRPr lang="en-US" sz="2320" b="1" dirty="0">
              <a:latin typeface="+mj-lt"/>
            </a:endParaRPr>
          </a:p>
        </p:txBody>
      </p:sp>
      <p:sp>
        <p:nvSpPr>
          <p:cNvPr id="11" name="Text 4"/>
          <p:cNvSpPr/>
          <p:nvPr/>
        </p:nvSpPr>
        <p:spPr>
          <a:xfrm>
            <a:off x="934341" y="495759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2" name="Text 5"/>
          <p:cNvSpPr/>
          <p:nvPr/>
        </p:nvSpPr>
        <p:spPr>
          <a:xfrm>
            <a:off x="10549918" y="5998464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Using data and analytics to </a:t>
            </a:r>
            <a:r>
              <a:rPr lang="en-US" sz="1850" dirty="0" err="1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proactivily</a:t>
            </a: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 manage financial risk and defaults</a:t>
            </a:r>
            <a:endParaRPr lang="en-US" sz="1850" dirty="0">
              <a:latin typeface="+mj-lt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448171" y="493715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4" name="Text 7"/>
          <p:cNvSpPr/>
          <p:nvPr/>
        </p:nvSpPr>
        <p:spPr>
          <a:xfrm>
            <a:off x="6121247" y="4989594"/>
            <a:ext cx="3337560" cy="688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Automating Repetitive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</a:rPr>
              <a:t>Back-Office Processes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848088" y="495759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6" name="Text 9"/>
          <p:cNvSpPr/>
          <p:nvPr/>
        </p:nvSpPr>
        <p:spPr>
          <a:xfrm>
            <a:off x="1609344" y="5779008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By promoting  mobile and online banking use across all age group </a:t>
            </a:r>
            <a:endParaRPr lang="en-US" sz="1850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" y="0"/>
            <a:ext cx="14630400" cy="8238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865" y="5148458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Current Account Usage</a:t>
            </a:r>
            <a:endParaRPr lang="en-US" sz="2320" b="1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06424" y="2307318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Savings Account Usage</a:t>
            </a:r>
            <a:endParaRPr lang="en-US" sz="2320" b="1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06865" y="3330180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27.2% of customers prefer savings accounts.</a:t>
            </a:r>
            <a:endParaRPr lang="en-US" sz="185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430768" y="5968113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The bank has a total of 1,000 customers.</a:t>
            </a:r>
            <a:endParaRPr lang="en-US" sz="185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68547" y="50137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Customer Profile Insights</a:t>
            </a:r>
            <a:endParaRPr lang="en-US" sz="4640" b="1" dirty="0">
              <a:latin typeface="+mj-l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430768" y="5148458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Total Customers</a:t>
            </a:r>
            <a:endParaRPr lang="en-US" sz="2320" b="1" dirty="0">
              <a:latin typeface="+mj-l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106865" y="5968113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25.5% of customers prefer current accounts.</a:t>
            </a:r>
            <a:endParaRPr lang="en-US" sz="1850" dirty="0">
              <a:latin typeface="+mj-lt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996" y="956405"/>
            <a:ext cx="6436175" cy="333543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1598" y="573207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Transaction Insights</a:t>
            </a:r>
            <a:endParaRPr lang="en-US" sz="4640" b="1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3800" y="6494003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Payment transactions account for 25.7%.</a:t>
            </a:r>
            <a:endParaRPr lang="en-US" sz="1850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1598" y="2951088"/>
            <a:ext cx="414223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Avg. Transaction: 25.55K EGP</a:t>
            </a:r>
            <a:endParaRPr lang="en-US" sz="185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1598" y="5559744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Payment Transactions</a:t>
            </a:r>
            <a:endParaRPr lang="en-US" sz="2320" b="1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498633" y="2804784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Most popular transaction type at 26.3%.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01598" y="2023330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Average Transaction</a:t>
            </a:r>
            <a:endParaRPr lang="en-US" sz="2320" b="1" dirty="0">
              <a:latin typeface="+mj-l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498633" y="2023330"/>
            <a:ext cx="414223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Withdrawal Transactions</a:t>
            </a:r>
            <a:endParaRPr lang="en-US" sz="232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460" y="3946031"/>
            <a:ext cx="6437376" cy="371220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847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87" y="5468112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87" y="2578608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87" y="4101525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169495" y="4665368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High default rates in Auto and SME loans.</a:t>
            </a:r>
            <a:endParaRPr lang="en-US" sz="1850" dirty="0">
              <a:latin typeface="+mj-lt"/>
            </a:endParaRPr>
          </a:p>
        </p:txBody>
      </p:sp>
      <p:sp>
        <p:nvSpPr>
          <p:cNvPr id="8" name="Text 1"/>
          <p:cNvSpPr/>
          <p:nvPr/>
        </p:nvSpPr>
        <p:spPr>
          <a:xfrm>
            <a:off x="695770" y="550468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9" name="Text 2"/>
          <p:cNvSpPr/>
          <p:nvPr/>
        </p:nvSpPr>
        <p:spPr>
          <a:xfrm>
            <a:off x="1169495" y="3182112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Personal and SME loans are leading.</a:t>
            </a:r>
            <a:endParaRPr lang="en-US" sz="1850" dirty="0"/>
          </a:p>
        </p:txBody>
      </p:sp>
      <p:sp>
        <p:nvSpPr>
          <p:cNvPr id="10" name="Text 3"/>
          <p:cNvSpPr/>
          <p:nvPr/>
        </p:nvSpPr>
        <p:spPr>
          <a:xfrm>
            <a:off x="1169495" y="4146088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Issues Identified</a:t>
            </a:r>
          </a:p>
        </p:txBody>
      </p:sp>
      <p:sp>
        <p:nvSpPr>
          <p:cNvPr id="11" name="Text 4"/>
          <p:cNvSpPr/>
          <p:nvPr/>
        </p:nvSpPr>
        <p:spPr>
          <a:xfrm>
            <a:off x="771731" y="786384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Loan Insights</a:t>
            </a:r>
            <a:endParaRPr lang="en-US" sz="4640" b="1" dirty="0">
              <a:latin typeface="+mj-lt"/>
            </a:endParaRPr>
          </a:p>
        </p:txBody>
      </p:sp>
      <p:sp>
        <p:nvSpPr>
          <p:cNvPr id="12" name="Text 5"/>
          <p:cNvSpPr/>
          <p:nvPr/>
        </p:nvSpPr>
        <p:spPr>
          <a:xfrm>
            <a:off x="684863" y="2624328"/>
            <a:ext cx="173736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3" name="Text 6"/>
          <p:cNvSpPr/>
          <p:nvPr/>
        </p:nvSpPr>
        <p:spPr>
          <a:xfrm>
            <a:off x="1169495" y="5897880"/>
            <a:ext cx="7214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Implement AI in credit scoring and provide SME financial planning.</a:t>
            </a:r>
            <a:endParaRPr lang="en-US" sz="1850" dirty="0">
              <a:latin typeface="+mj-lt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251516" y="5522976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Strategic Approach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169495" y="2651760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Top Loans</a:t>
            </a:r>
          </a:p>
        </p:txBody>
      </p:sp>
      <p:sp>
        <p:nvSpPr>
          <p:cNvPr id="16" name="Text 9"/>
          <p:cNvSpPr/>
          <p:nvPr/>
        </p:nvSpPr>
        <p:spPr>
          <a:xfrm>
            <a:off x="684863" y="414223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049" y="1237798"/>
            <a:ext cx="7787104" cy="438215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2608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25112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15000"/>
            <a:ext cx="475488" cy="4754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96696" y="29443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996696" y="434340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832104" y="167335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Engagement Overview</a:t>
            </a:r>
            <a:endParaRPr lang="en-US" sz="4640" b="1" dirty="0">
              <a:latin typeface="+mj-lt"/>
            </a:endParaRPr>
          </a:p>
        </p:txBody>
      </p:sp>
      <p:sp>
        <p:nvSpPr>
          <p:cNvPr id="9" name="Text 3"/>
          <p:cNvSpPr/>
          <p:nvPr/>
        </p:nvSpPr>
        <p:spPr>
          <a:xfrm>
            <a:off x="1609344" y="4864608"/>
            <a:ext cx="1218895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Ages 26–45</a:t>
            </a:r>
            <a:endParaRPr lang="en-US" sz="1850" dirty="0">
              <a:latin typeface="+mj-lt"/>
            </a:endParaRPr>
          </a:p>
        </p:txBody>
      </p:sp>
      <p:sp>
        <p:nvSpPr>
          <p:cNvPr id="10" name="Text 4"/>
          <p:cNvSpPr/>
          <p:nvPr/>
        </p:nvSpPr>
        <p:spPr>
          <a:xfrm>
            <a:off x="996696" y="573328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1" name="Text 5"/>
          <p:cNvSpPr/>
          <p:nvPr/>
        </p:nvSpPr>
        <p:spPr>
          <a:xfrm>
            <a:off x="1609344" y="3465576"/>
            <a:ext cx="1218895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247.7M EGP</a:t>
            </a:r>
            <a:endParaRPr lang="en-US" sz="1850" dirty="0">
              <a:latin typeface="+mj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609344" y="5751576"/>
            <a:ext cx="1218895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Customer Growth</a:t>
            </a:r>
            <a:endParaRPr lang="en-US" sz="2320" b="1" dirty="0">
              <a:latin typeface="+mj-l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609344" y="6254496"/>
            <a:ext cx="1218895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Strong customer growth rebound in 2023</a:t>
            </a:r>
            <a:endParaRPr lang="en-US" sz="1850" dirty="0">
              <a:latin typeface="+mj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609344" y="2953512"/>
            <a:ext cx="1218895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Total Balance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609344" y="4352544"/>
            <a:ext cx="1218895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Top Digital Users Age</a:t>
            </a:r>
            <a:endParaRPr lang="en-US" sz="2320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DE3865-6A2A-3167-9602-7D8FC03F2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267" y="1846384"/>
            <a:ext cx="7529889" cy="396920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651760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041648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40680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09344" y="4581144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Interactive ATM/app guides for onboarding new users</a:t>
            </a:r>
            <a:r>
              <a:rPr lang="en-US" sz="185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Text 1"/>
          <p:cNvSpPr/>
          <p:nvPr/>
        </p:nvSpPr>
        <p:spPr>
          <a:xfrm>
            <a:off x="1609344" y="5468112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Impact</a:t>
            </a:r>
            <a:endParaRPr lang="en-US" sz="2320" dirty="0">
              <a:latin typeface="+mj-lt"/>
            </a:endParaRPr>
          </a:p>
        </p:txBody>
      </p:sp>
      <p:sp>
        <p:nvSpPr>
          <p:cNvPr id="9" name="Text 2"/>
          <p:cNvSpPr/>
          <p:nvPr/>
        </p:nvSpPr>
        <p:spPr>
          <a:xfrm>
            <a:off x="832104" y="1389888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XR in Banking</a:t>
            </a:r>
            <a:endParaRPr lang="en-US" sz="4640" b="1" dirty="0">
              <a:latin typeface="+mj-lt"/>
            </a:endParaRPr>
          </a:p>
        </p:txBody>
      </p:sp>
      <p:sp>
        <p:nvSpPr>
          <p:cNvPr id="10" name="Text 3"/>
          <p:cNvSpPr/>
          <p:nvPr/>
        </p:nvSpPr>
        <p:spPr>
          <a:xfrm>
            <a:off x="996696" y="26700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1" name="Text 4"/>
          <p:cNvSpPr/>
          <p:nvPr/>
        </p:nvSpPr>
        <p:spPr>
          <a:xfrm>
            <a:off x="1609344" y="3191256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Immersive staff training for customer service and digital tools.</a:t>
            </a:r>
            <a:endParaRPr lang="en-US" sz="1850" dirty="0">
              <a:latin typeface="+mj-lt"/>
            </a:endParaRPr>
          </a:p>
        </p:txBody>
      </p:sp>
      <p:sp>
        <p:nvSpPr>
          <p:cNvPr id="12" name="Text 5"/>
          <p:cNvSpPr/>
          <p:nvPr/>
        </p:nvSpPr>
        <p:spPr>
          <a:xfrm>
            <a:off x="996696" y="405993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3" name="Text 6"/>
          <p:cNvSpPr/>
          <p:nvPr/>
        </p:nvSpPr>
        <p:spPr>
          <a:xfrm>
            <a:off x="996696" y="54589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4" name="Text 7"/>
          <p:cNvSpPr/>
          <p:nvPr/>
        </p:nvSpPr>
        <p:spPr>
          <a:xfrm>
            <a:off x="1609344" y="4069080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Augmented Reality (AR)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609344" y="2679192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Virtual Reality (VR)</a:t>
            </a:r>
            <a:endParaRPr lang="en-US" sz="2320" b="1" dirty="0">
              <a:latin typeface="+mj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609344" y="5980176"/>
            <a:ext cx="7214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Faster onboarding, reduced customer confusion, and a stronger brand image.</a:t>
            </a:r>
            <a:endParaRPr lang="en-US" sz="1850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4736592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054096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054096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3054096"/>
            <a:ext cx="475488" cy="4754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736592"/>
            <a:ext cx="475488" cy="4754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736592"/>
            <a:ext cx="475488" cy="47548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0460736" y="308152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Cloud</a:t>
            </a:r>
            <a:endParaRPr lang="en-US" sz="2320" b="1" dirty="0">
              <a:latin typeface="+mj-lt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035040" y="35935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Monitoring ATM and branch performance.</a:t>
            </a:r>
            <a:endParaRPr lang="en-US" sz="1850" dirty="0">
              <a:latin typeface="+mj-lt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0460736" y="35935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Real-time, scalable data access.</a:t>
            </a:r>
            <a:endParaRPr lang="en-US" sz="1850" dirty="0">
              <a:latin typeface="+mj-lt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22392" y="4764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14" name="Text 4"/>
          <p:cNvSpPr/>
          <p:nvPr/>
        </p:nvSpPr>
        <p:spPr>
          <a:xfrm>
            <a:off x="6035040" y="308152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IoT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609344" y="35935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Predicting customer churn and smart credit scoring.</a:t>
            </a:r>
            <a:endParaRPr lang="en-US" sz="1850" dirty="0">
              <a:latin typeface="+mj-lt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035040" y="477316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Blockchain</a:t>
            </a:r>
            <a:endParaRPr lang="en-US" sz="2320" b="1" dirty="0">
              <a:latin typeface="+mj-lt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035040" y="52760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Providing transparency in loan contracts.</a:t>
            </a:r>
            <a:endParaRPr lang="en-US" sz="1850" dirty="0">
              <a:latin typeface="+mj-lt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609344" y="477316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RPA</a:t>
            </a:r>
            <a:endParaRPr lang="en-US" sz="2320" b="1" dirty="0">
              <a:latin typeface="+mj-lt"/>
            </a:endParaRPr>
          </a:p>
        </p:txBody>
      </p:sp>
      <p:sp>
        <p:nvSpPr>
          <p:cNvPr id="19" name="Text 9"/>
          <p:cNvSpPr/>
          <p:nvPr/>
        </p:nvSpPr>
        <p:spPr>
          <a:xfrm>
            <a:off x="9848088" y="3072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20" name="Text 10"/>
          <p:cNvSpPr/>
          <p:nvPr/>
        </p:nvSpPr>
        <p:spPr>
          <a:xfrm>
            <a:off x="10460736" y="477316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Business Intelligence</a:t>
            </a:r>
            <a:endParaRPr lang="en-US" sz="2320" b="1" dirty="0">
              <a:latin typeface="+mj-lt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609344" y="52760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Automating back-office tasks like HR and invoicing.</a:t>
            </a:r>
            <a:endParaRPr lang="en-US" sz="1850" dirty="0">
              <a:latin typeface="+mj-lt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996696" y="3072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23" name="Text 13"/>
          <p:cNvSpPr/>
          <p:nvPr/>
        </p:nvSpPr>
        <p:spPr>
          <a:xfrm>
            <a:off x="832104" y="1792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Strategic Technologies</a:t>
            </a:r>
            <a:endParaRPr lang="en-US" sz="4640" b="1" dirty="0">
              <a:latin typeface="+mj-lt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0460736" y="5148072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Enhancing customer segmentation and product planning.</a:t>
            </a:r>
            <a:endParaRPr lang="en-US" sz="1850" dirty="0">
              <a:latin typeface="+mj-lt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422392" y="3072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26" name="Text 16"/>
          <p:cNvSpPr/>
          <p:nvPr/>
        </p:nvSpPr>
        <p:spPr>
          <a:xfrm>
            <a:off x="9848088" y="4764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2320" dirty="0"/>
          </a:p>
        </p:txBody>
      </p:sp>
      <p:sp>
        <p:nvSpPr>
          <p:cNvPr id="27" name="Text 17"/>
          <p:cNvSpPr/>
          <p:nvPr/>
        </p:nvSpPr>
        <p:spPr>
          <a:xfrm>
            <a:off x="1609344" y="3081528"/>
            <a:ext cx="333756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AI/ML</a:t>
            </a:r>
            <a:endParaRPr lang="en-US" sz="2320" b="1" dirty="0">
              <a:latin typeface="+mj-lt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996696" y="4764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458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4630400" cy="33146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6400800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6400800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709160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709160"/>
            <a:ext cx="475488" cy="4754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247888" y="6428232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Remote Advisory Enablement</a:t>
            </a:r>
            <a:endParaRPr lang="en-US" sz="2320" b="1" dirty="0">
              <a:latin typeface="+mj-lt"/>
            </a:endParaRPr>
          </a:p>
        </p:txBody>
      </p:sp>
      <p:sp>
        <p:nvSpPr>
          <p:cNvPr id="9" name="Text 1"/>
          <p:cNvSpPr/>
          <p:nvPr/>
        </p:nvSpPr>
        <p:spPr>
          <a:xfrm>
            <a:off x="996696" y="641908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0" name="Text 2"/>
          <p:cNvSpPr/>
          <p:nvPr/>
        </p:nvSpPr>
        <p:spPr>
          <a:xfrm>
            <a:off x="8247888" y="6940296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Provide clients with financial advice through mobile apps.</a:t>
            </a:r>
            <a:endParaRPr lang="en-US" sz="1850" dirty="0">
              <a:latin typeface="+mj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47888" y="5253283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Implement online forms for convenience and efficiency.</a:t>
            </a:r>
            <a:endParaRPr lang="en-US" sz="1850" dirty="0">
              <a:latin typeface="+mj-lt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635240" y="641908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3" name="Text 5"/>
          <p:cNvSpPr/>
          <p:nvPr/>
        </p:nvSpPr>
        <p:spPr>
          <a:xfrm>
            <a:off x="7635240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4" name="Text 6"/>
          <p:cNvSpPr/>
          <p:nvPr/>
        </p:nvSpPr>
        <p:spPr>
          <a:xfrm>
            <a:off x="996696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5" name="Text 7"/>
          <p:cNvSpPr/>
          <p:nvPr/>
        </p:nvSpPr>
        <p:spPr>
          <a:xfrm>
            <a:off x="1609344" y="5248656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Streamline the new user registration process with digital tools.</a:t>
            </a:r>
            <a:endParaRPr lang="en-US" sz="1850" dirty="0">
              <a:latin typeface="+mj-lt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32104" y="34564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Process Redesign Priorities</a:t>
            </a:r>
            <a:endParaRPr lang="en-US" sz="4640" b="1" dirty="0">
              <a:latin typeface="+mj-lt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247888" y="4736592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Loan Applications</a:t>
            </a:r>
            <a:endParaRPr lang="en-US" sz="2320" b="1" dirty="0">
              <a:latin typeface="+mj-lt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609344" y="6940296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Utilize digital channels for quicker responses to customer issues.</a:t>
            </a:r>
            <a:endParaRPr lang="en-US" sz="1850" dirty="0">
              <a:latin typeface="+mj-lt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609344" y="4736592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Digitize Onboarding</a:t>
            </a:r>
            <a:endParaRPr lang="en-US" sz="2320" b="1" dirty="0">
              <a:latin typeface="+mj-lt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609344" y="6428232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Complaint Resolution</a:t>
            </a:r>
            <a:endParaRPr lang="en-US" sz="2320" b="1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79806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586984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187952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96696" y="28163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1609344" y="2825496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Fair AI Use</a:t>
            </a:r>
            <a:endParaRPr lang="en-US" sz="2320" b="1" dirty="0">
              <a:latin typeface="+mj-lt"/>
            </a:endParaRPr>
          </a:p>
        </p:txBody>
      </p:sp>
      <p:sp>
        <p:nvSpPr>
          <p:cNvPr id="9" name="Text 2"/>
          <p:cNvSpPr/>
          <p:nvPr/>
        </p:nvSpPr>
        <p:spPr>
          <a:xfrm>
            <a:off x="996696" y="560527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0" name="Text 3"/>
          <p:cNvSpPr/>
          <p:nvPr/>
        </p:nvSpPr>
        <p:spPr>
          <a:xfrm>
            <a:off x="832104" y="1545336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Ethical AI Strategies</a:t>
            </a:r>
            <a:endParaRPr lang="en-US" sz="4640" b="1" dirty="0">
              <a:latin typeface="+mj-lt"/>
            </a:endParaRPr>
          </a:p>
        </p:txBody>
      </p:sp>
      <p:sp>
        <p:nvSpPr>
          <p:cNvPr id="11" name="Text 4"/>
          <p:cNvSpPr/>
          <p:nvPr/>
        </p:nvSpPr>
        <p:spPr>
          <a:xfrm>
            <a:off x="1609344" y="6126480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Provide mobile banking training for elderly customers.</a:t>
            </a:r>
            <a:endParaRPr lang="en-US" sz="1850" dirty="0">
              <a:latin typeface="+mj-lt"/>
            </a:endParaRPr>
          </a:p>
        </p:txBody>
      </p:sp>
      <p:sp>
        <p:nvSpPr>
          <p:cNvPr id="12" name="Text 5"/>
          <p:cNvSpPr/>
          <p:nvPr/>
        </p:nvSpPr>
        <p:spPr>
          <a:xfrm>
            <a:off x="1609344" y="5614416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Inclusivity Training</a:t>
            </a:r>
            <a:endParaRPr lang="en-US" sz="2320" b="1" dirty="0">
              <a:latin typeface="+mj-lt"/>
            </a:endParaRPr>
          </a:p>
        </p:txBody>
      </p:sp>
      <p:sp>
        <p:nvSpPr>
          <p:cNvPr id="13" name="Text 6"/>
          <p:cNvSpPr/>
          <p:nvPr/>
        </p:nvSpPr>
        <p:spPr>
          <a:xfrm>
            <a:off x="996696" y="420624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4" name="Text 7"/>
          <p:cNvSpPr/>
          <p:nvPr/>
        </p:nvSpPr>
        <p:spPr>
          <a:xfrm>
            <a:off x="1609344" y="4215384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Data Privacy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609344" y="3337560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Prioritize transparency and explainability in AI decisions.</a:t>
            </a:r>
            <a:endParaRPr lang="en-US" sz="1850" dirty="0">
              <a:latin typeface="+mj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609344" y="4727448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Adhere to GDPR and local compliance regulations</a:t>
            </a:r>
            <a:r>
              <a:rPr lang="en-US" sz="185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16382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562856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952744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96696" y="318211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1609344" y="3191256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Phase 1</a:t>
            </a:r>
            <a:endParaRPr lang="en-US" sz="2320" b="1" dirty="0">
              <a:latin typeface="+mj-lt"/>
            </a:endParaRPr>
          </a:p>
        </p:txBody>
      </p:sp>
      <p:sp>
        <p:nvSpPr>
          <p:cNvPr id="9" name="Text 2"/>
          <p:cNvSpPr/>
          <p:nvPr/>
        </p:nvSpPr>
        <p:spPr>
          <a:xfrm>
            <a:off x="832104" y="1170432"/>
            <a:ext cx="80101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Digital Transformation Roadmap</a:t>
            </a:r>
            <a:endParaRPr lang="en-US" sz="4640" b="1" dirty="0">
              <a:latin typeface="+mj-lt"/>
            </a:endParaRPr>
          </a:p>
        </p:txBody>
      </p:sp>
      <p:sp>
        <p:nvSpPr>
          <p:cNvPr id="10" name="Text 3"/>
          <p:cNvSpPr/>
          <p:nvPr/>
        </p:nvSpPr>
        <p:spPr>
          <a:xfrm>
            <a:off x="996696" y="458114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1" name="Text 4"/>
          <p:cNvSpPr/>
          <p:nvPr/>
        </p:nvSpPr>
        <p:spPr>
          <a:xfrm>
            <a:off x="1609344" y="5980176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Phase 3</a:t>
            </a:r>
            <a:endParaRPr lang="en-US" sz="2320" b="1" dirty="0">
              <a:latin typeface="+mj-lt"/>
            </a:endParaRPr>
          </a:p>
        </p:txBody>
      </p:sp>
      <p:sp>
        <p:nvSpPr>
          <p:cNvPr id="12" name="Text 5"/>
          <p:cNvSpPr/>
          <p:nvPr/>
        </p:nvSpPr>
        <p:spPr>
          <a:xfrm>
            <a:off x="996696" y="597103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3" name="Text 6"/>
          <p:cNvSpPr/>
          <p:nvPr/>
        </p:nvSpPr>
        <p:spPr>
          <a:xfrm>
            <a:off x="1609344" y="3703320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Data analysis &amp; customer insight</a:t>
            </a:r>
            <a:endParaRPr lang="en-US" sz="1850" dirty="0">
              <a:latin typeface="+mj-lt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609344" y="5102352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Tech assessment &amp; process redesign</a:t>
            </a:r>
            <a:endParaRPr lang="en-US" sz="1850" dirty="0">
              <a:latin typeface="+mj-lt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609344" y="6492240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Pilot digital tools, XR features, and AI systems</a:t>
            </a:r>
            <a:endParaRPr lang="en-US" sz="1850" dirty="0">
              <a:latin typeface="+mj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609344" y="4590288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Phase 2</a:t>
            </a:r>
            <a:endParaRPr lang="en-US" sz="2320" b="1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532888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892040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532888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4892040"/>
            <a:ext cx="475488" cy="4754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122408" y="25511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9" name="Text 1"/>
          <p:cNvSpPr/>
          <p:nvPr/>
        </p:nvSpPr>
        <p:spPr>
          <a:xfrm>
            <a:off x="5971032" y="491032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0" name="Text 2"/>
          <p:cNvSpPr/>
          <p:nvPr/>
        </p:nvSpPr>
        <p:spPr>
          <a:xfrm>
            <a:off x="6524299" y="2990088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Implement analytics to enhance customer insights.</a:t>
            </a:r>
            <a:endParaRPr lang="en-US" sz="1850" dirty="0">
              <a:latin typeface="+mj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806440" y="1280160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Conclusion &amp; Next Steps</a:t>
            </a:r>
            <a:endParaRPr lang="en-US" sz="4640" b="1" dirty="0">
              <a:latin typeface="+mj-lt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71032" y="25511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3" name="Text 5"/>
          <p:cNvSpPr/>
          <p:nvPr/>
        </p:nvSpPr>
        <p:spPr>
          <a:xfrm>
            <a:off x="10633536" y="5500116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Pilot digital features in Cairo and Alexandria branches.</a:t>
            </a:r>
            <a:endParaRPr lang="en-US" sz="1850" dirty="0">
              <a:latin typeface="+mj-lt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524299" y="2377440"/>
            <a:ext cx="3063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Data-driven strategies</a:t>
            </a:r>
            <a:endParaRPr lang="en-US" sz="2320" b="1" dirty="0">
              <a:latin typeface="+mj-lt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524299" y="4759452"/>
            <a:ext cx="3014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Ethical tech adoption</a:t>
            </a:r>
            <a:endParaRPr lang="en-US" sz="2320" b="1" dirty="0">
              <a:latin typeface="+mj-lt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0735056" y="2560320"/>
            <a:ext cx="306324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Digital engagement</a:t>
            </a:r>
            <a:endParaRPr lang="en-US" sz="2320" b="1" dirty="0">
              <a:latin typeface="+mj-lt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0122408" y="491032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8" name="Text 10"/>
          <p:cNvSpPr/>
          <p:nvPr/>
        </p:nvSpPr>
        <p:spPr>
          <a:xfrm>
            <a:off x="10735056" y="3072384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Strengthen customer interactions through digital platforms.</a:t>
            </a:r>
            <a:endParaRPr lang="en-US" sz="1850" dirty="0">
              <a:latin typeface="+mj-lt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583680" y="5614416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+mj-lt"/>
                <a:ea typeface="思源黑体-思源黑体-Medium" pitchFamily="34" charset="-122"/>
                <a:cs typeface="思源黑体-思源黑体-Medium" pitchFamily="34" charset="-120"/>
              </a:rPr>
              <a:t>Prioritize responsible technology practices and data security.</a:t>
            </a:r>
            <a:endParaRPr lang="en-US" sz="1850" dirty="0">
              <a:latin typeface="+mj-lt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0735056" y="4892040"/>
            <a:ext cx="306324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Next Steps</a:t>
            </a:r>
            <a:endParaRPr lang="en-US" sz="2320" b="1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06669" y="3703873"/>
            <a:ext cx="401706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/>
              <a:t>Any Questions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49742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74720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10"/>
              </a:lnSpc>
              <a:buNone/>
            </a:pPr>
            <a:r>
              <a:rPr lang="en-US" sz="6410" b="1" dirty="0">
                <a:solidFill>
                  <a:srgbClr val="FFFFFF"/>
                </a:solidFill>
                <a:latin typeface="+mj-lt"/>
                <a:ea typeface="思源黑体-思源黑体-Bold" pitchFamily="34" charset="-122"/>
                <a:cs typeface="思源黑体-思源黑体-Bold" pitchFamily="34" charset="-120"/>
              </a:rPr>
              <a:t>Thank You</a:t>
            </a:r>
            <a:endParaRPr lang="en-US" sz="6410" b="1" dirty="0">
              <a:latin typeface="+mj-lt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657</Words>
  <Application>Microsoft Office PowerPoint</Application>
  <PresentationFormat>Custom</PresentationFormat>
  <Paragraphs>172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思源黑体-思源黑体-Bold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Moaz Abdelaleem</cp:lastModifiedBy>
  <cp:revision>10</cp:revision>
  <dcterms:created xsi:type="dcterms:W3CDTF">2025-05-20T18:38:12Z</dcterms:created>
  <dcterms:modified xsi:type="dcterms:W3CDTF">2025-05-21T09:40:45Z</dcterms:modified>
</cp:coreProperties>
</file>